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75B6"/>
                </a:solidFill>
                <a:latin typeface="Calibri"/>
              </a:rPr>
              <a:t>TRUSTWORTHY TOWER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8200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21282E"/>
                </a:solidFill>
                <a:latin typeface="Calibri"/>
              </a:rPr>
              <a:t>The verified map of who owns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21282E"/>
                </a:solidFill>
                <a:latin typeface="Calibri"/>
              </a:rPr>
              <a:t>the world's mobile towers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395728"/>
            <a:ext cx="137160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108200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—  </a:t>
            </a:r>
            <a:r>
              <a:rPr sz="1500" b="1">
                <a:solidFill>
                  <a:srgbClr val="21282E"/>
                </a:solidFill>
                <a:latin typeface="Calibri"/>
              </a:rPr>
              <a:t>Tower Tracker (the engine). </a:t>
            </a:r>
            <a:r>
              <a:rPr sz="1500">
                <a:solidFill>
                  <a:srgbClr val="21282E"/>
                </a:solidFill>
                <a:latin typeface="Calibri"/>
              </a:rPr>
              <a:t>Every ownership deal re-sourced to official documents and graded for authority — a dated-event ledger we can replay to any date, accelerated by scraping company reports.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—  </a:t>
            </a:r>
            <a:r>
              <a:rPr sz="1500" b="1">
                <a:solidFill>
                  <a:srgbClr val="21282E"/>
                </a:solidFill>
                <a:latin typeface="Calibri"/>
              </a:rPr>
              <a:t>Market Intelligence (the lens). </a:t>
            </a:r>
            <a:r>
              <a:rPr sz="1500">
                <a:solidFill>
                  <a:srgbClr val="21282E"/>
                </a:solidFill>
                <a:latin typeface="Calibri"/>
              </a:rPr>
              <a:t>A live explorer that shows where our knowledge is thin or contradicted across public data.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—  </a:t>
            </a:r>
            <a:r>
              <a:rPr sz="1500" b="1">
                <a:solidFill>
                  <a:srgbClr val="21282E"/>
                </a:solidFill>
                <a:latin typeface="Calibri"/>
              </a:rPr>
              <a:t>The payoff. </a:t>
            </a:r>
            <a:r>
              <a:rPr sz="1500">
                <a:solidFill>
                  <a:srgbClr val="21282E"/>
                </a:solidFill>
                <a:latin typeface="Calibri"/>
              </a:rPr>
              <a:t>The model directs manual “boot-leather” research — 80% of the value sits in the 20% of sites that are most opaque, and we point effort straight at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440680"/>
            <a:ext cx="10820095" cy="868680"/>
          </a:xfrm>
          <a:prstGeom prst="roundRect">
            <a:avLst>
              <a:gd name="adj" fmla="val 6000"/>
            </a:avLst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559552"/>
            <a:ext cx="30580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308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943600"/>
            <a:ext cx="30580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36E7A"/>
                </a:solidFill>
                <a:latin typeface="Calibri"/>
              </a:rPr>
              <a:t>deals tracked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6818" y="5559552"/>
            <a:ext cx="30580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France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5943600"/>
            <a:ext cx="30580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36E7A"/>
                </a:solidFill>
                <a:latin typeface="Calibri"/>
              </a:rPr>
              <a:t>100% verified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2498" y="5605272"/>
            <a:ext cx="12801" cy="530352"/>
          </a:xfrm>
          <a:prstGeom prst="rect">
            <a:avLst/>
          </a:prstGeom>
          <a:solidFill>
            <a:srgbClr val="D5D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3516" y="5559552"/>
            <a:ext cx="30580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F4E79"/>
                </a:solidFill>
                <a:latin typeface="Calibri"/>
              </a:rPr>
              <a:t>Every figure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3516" y="5943600"/>
            <a:ext cx="305805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36E7A"/>
                </a:solidFill>
                <a:latin typeface="Calibri"/>
              </a:rPr>
              <a:t>source-graded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99196" y="5605272"/>
            <a:ext cx="12801" cy="530352"/>
          </a:xfrm>
          <a:prstGeom prst="rect">
            <a:avLst/>
          </a:prstGeom>
          <a:solidFill>
            <a:srgbClr val="D5D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37336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36E7A"/>
                </a:solidFill>
                <a:latin typeface="Calibri"/>
              </a:rPr>
              <a:t>Market Intelligence explorer already live — 707 companies across 140 countries.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36E7A"/>
                </a:solidFill>
                <a:latin typeface="Calibri"/>
              </a:rPr>
              <a:t>Trustworthy Tower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77095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36E7A"/>
                </a:solidFill>
                <a:latin typeface="Calibr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E75B6"/>
                </a:solidFill>
                <a:latin typeface="Calibri"/>
              </a:rPr>
              <a:t>WHY IT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1282E"/>
                </a:solidFill>
                <a:latin typeface="Calibri"/>
              </a:rPr>
              <a:t>Own the physical layer of the mobile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51560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67665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—  </a:t>
            </a:r>
            <a:r>
              <a:rPr sz="1500" b="1">
                <a:solidFill>
                  <a:srgbClr val="21282E"/>
                </a:solidFill>
                <a:latin typeface="Calibri"/>
              </a:rPr>
              <a:t>The problem. </a:t>
            </a:r>
            <a:r>
              <a:rPr sz="1500">
                <a:solidFill>
                  <a:srgbClr val="21282E"/>
                </a:solidFill>
                <a:latin typeface="Calibri"/>
              </a:rPr>
              <a:t>The sector's reference data is a flat, partly-sourced list — untrustworthy, untraceable, and incomplete.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—  </a:t>
            </a:r>
            <a:r>
              <a:rPr sz="1500" b="1">
                <a:solidFill>
                  <a:srgbClr val="21282E"/>
                </a:solidFill>
                <a:latin typeface="Calibri"/>
              </a:rPr>
              <a:t>Member lock-in. </a:t>
            </a:r>
            <a:r>
              <a:rPr sz="1500">
                <a:solidFill>
                  <a:srgbClr val="21282E"/>
                </a:solidFill>
                <a:latin typeface="Calibri"/>
              </a:rPr>
              <a:t>A verified global source of truth that GSMA's members have every reason to keep updating — it becomes where the data lives.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—  </a:t>
            </a:r>
            <a:r>
              <a:rPr sz="1500" b="1">
                <a:solidFill>
                  <a:srgbClr val="21282E"/>
                </a:solidFill>
                <a:latin typeface="Calibri"/>
              </a:rPr>
              <a:t>Entrant lock-out. </a:t>
            </a:r>
            <a:r>
              <a:rPr sz="1500">
                <a:solidFill>
                  <a:srgbClr val="21282E"/>
                </a:solidFill>
                <a:latin typeface="Calibri"/>
              </a:rPr>
              <a:t>By owning the trusted record of the physical layer, GSMA holds ground a new entrant can't easily take.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2E75B6"/>
                </a:solidFill>
                <a:latin typeface="Calibri"/>
              </a:rPr>
              <a:t>—  </a:t>
            </a:r>
            <a:r>
              <a:rPr sz="1500" b="1">
                <a:solidFill>
                  <a:srgbClr val="21282E"/>
                </a:solidFill>
                <a:latin typeface="Calibri"/>
              </a:rPr>
              <a:t>New revenue upside. </a:t>
            </a:r>
            <a:r>
              <a:rPr sz="1500">
                <a:solidFill>
                  <a:srgbClr val="21282E"/>
                </a:solidFill>
                <a:latin typeface="Calibri"/>
              </a:rPr>
              <a:t>The same location backbone opens enterprise services — for example, tracking IoT device locations.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783080"/>
            <a:ext cx="3596335" cy="3246120"/>
          </a:xfrm>
          <a:prstGeom prst="roundRect">
            <a:avLst>
              <a:gd name="adj" fmla="val 6000"/>
            </a:avLst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2011680"/>
            <a:ext cx="35963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E75B6"/>
                </a:solidFill>
                <a:latin typeface="Calibri"/>
              </a:rPr>
              <a:t>THE MOAT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395728"/>
            <a:ext cx="2956255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505456"/>
            <a:ext cx="26819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4E79"/>
                </a:solidFill>
                <a:latin typeface="Calibri"/>
              </a:rPr>
              <a:t>Lock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798064"/>
            <a:ext cx="26819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36E7A"/>
                </a:solidFill>
                <a:latin typeface="Calibri"/>
              </a:rPr>
              <a:t>members keep the record current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236976"/>
            <a:ext cx="2956255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3346704"/>
            <a:ext cx="26819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4E79"/>
                </a:solidFill>
                <a:latin typeface="Calibri"/>
              </a:rPr>
              <a:t>Lock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639312"/>
            <a:ext cx="26819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36E7A"/>
                </a:solidFill>
                <a:latin typeface="Calibri"/>
              </a:rPr>
              <a:t>own the trusted physical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078224"/>
            <a:ext cx="2956255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4187952"/>
            <a:ext cx="26819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4E79"/>
                </a:solidFill>
                <a:latin typeface="Calibri"/>
              </a:rPr>
              <a:t>New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480560"/>
            <a:ext cx="26819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36E7A"/>
                </a:solidFill>
                <a:latin typeface="Calibri"/>
              </a:rPr>
              <a:t>IoT &amp; enterprise location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36E7A"/>
                </a:solidFill>
                <a:latin typeface="Calibri"/>
              </a:rPr>
              <a:t>Trustworthy Tower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77095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36E7A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E75B6"/>
                </a:solidFill>
                <a:latin typeface="Calibri"/>
              </a:rPr>
              <a:t>THE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1282E"/>
                </a:solidFill>
                <a:latin typeface="Calibri"/>
              </a:rPr>
              <a:t>Every figure earns its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51560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2485567" cy="246888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423160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108960"/>
            <a:ext cx="19735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1282E"/>
                </a:solidFill>
                <a:latin typeface="Calibri"/>
              </a:rPr>
              <a:t>Verify, don't trust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630168"/>
            <a:ext cx="197350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36E7A"/>
                </a:solidFill>
                <a:latin typeface="Calibri"/>
              </a:rPr>
              <a:t>Recorded only when seen in an actual official document — never a search-engine summary.</a:t>
            </a:r>
          </a:p>
        </p:txBody>
      </p:sp>
      <p:sp>
        <p:nvSpPr>
          <p:cNvPr id="10" name="Chevron 9"/>
          <p:cNvSpPr/>
          <p:nvPr/>
        </p:nvSpPr>
        <p:spPr>
          <a:xfrm>
            <a:off x="3217087" y="3264408"/>
            <a:ext cx="201168" cy="237744"/>
          </a:xfrm>
          <a:prstGeom prst="chevron">
            <a:avLst/>
          </a:prstGeom>
          <a:solidFill>
            <a:srgbClr val="8FB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63975" y="2148840"/>
            <a:ext cx="2485567" cy="246888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38295" y="2423160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0007" y="3108960"/>
            <a:ext cx="19735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1282E"/>
                </a:solidFill>
                <a:latin typeface="Calibri"/>
              </a:rPr>
              <a:t>Grade the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0007" y="3630168"/>
            <a:ext cx="197350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36E7A"/>
                </a:solidFill>
                <a:latin typeface="Calibri"/>
              </a:rPr>
              <a:t>Every figure tagged by how authoritative its origin is — and exactly where it came from.</a:t>
            </a:r>
          </a:p>
        </p:txBody>
      </p:sp>
      <p:sp>
        <p:nvSpPr>
          <p:cNvPr id="15" name="Chevron 14"/>
          <p:cNvSpPr/>
          <p:nvPr/>
        </p:nvSpPr>
        <p:spPr>
          <a:xfrm>
            <a:off x="5995263" y="3264408"/>
            <a:ext cx="201168" cy="237744"/>
          </a:xfrm>
          <a:prstGeom prst="chevron">
            <a:avLst/>
          </a:prstGeom>
          <a:solidFill>
            <a:srgbClr val="8FB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42151" y="2148840"/>
            <a:ext cx="2485567" cy="246888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16471" y="2423160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108960"/>
            <a:ext cx="19735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1282E"/>
                </a:solidFill>
                <a:latin typeface="Calibri"/>
              </a:rPr>
              <a:t>Capture dated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8183" y="3630168"/>
            <a:ext cx="197350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36E7A"/>
                </a:solidFill>
                <a:latin typeface="Calibri"/>
              </a:rPr>
              <a:t>Each change of hands logged with a date, so we can “wind the tape” to any moment.</a:t>
            </a:r>
          </a:p>
        </p:txBody>
      </p:sp>
      <p:sp>
        <p:nvSpPr>
          <p:cNvPr id="20" name="Chevron 19"/>
          <p:cNvSpPr/>
          <p:nvPr/>
        </p:nvSpPr>
        <p:spPr>
          <a:xfrm>
            <a:off x="8773439" y="3264408"/>
            <a:ext cx="201168" cy="237744"/>
          </a:xfrm>
          <a:prstGeom prst="chevron">
            <a:avLst/>
          </a:prstGeom>
          <a:solidFill>
            <a:srgbClr val="8FB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20327" y="2148840"/>
            <a:ext cx="2485567" cy="2468880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4647" y="2423160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6359" y="3108960"/>
            <a:ext cx="19735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1282E"/>
                </a:solidFill>
                <a:latin typeface="Calibri"/>
              </a:rPr>
              <a:t>Prove vs the regulator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6359" y="3630168"/>
            <a:ext cx="197350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36E7A"/>
                </a:solidFill>
                <a:latin typeface="Calibri"/>
              </a:rPr>
              <a:t>Cross-checked against regulators' own data (France's Arcep first) — the acid test.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029200"/>
            <a:ext cx="10820095" cy="640080"/>
          </a:xfrm>
          <a:prstGeom prst="roundRect">
            <a:avLst>
              <a:gd name="adj" fmla="val 6000"/>
            </a:avLst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157216"/>
            <a:ext cx="101800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4E79"/>
                </a:solidFill>
                <a:latin typeface="Calibri"/>
              </a:rPr>
              <a:t>Accelerated by scraping company reports and public filings — </a:t>
            </a:r>
            <a:r>
              <a:rPr sz="1300" b="0" i="0">
                <a:solidFill>
                  <a:srgbClr val="21282E"/>
                </a:solidFill>
                <a:latin typeface="Calibri"/>
              </a:rPr>
              <a:t>widening ground truth without lowering the evidence bar.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36E7A"/>
                </a:solidFill>
                <a:latin typeface="Calibri"/>
              </a:rPr>
              <a:t>Trustworthy Tower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7095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36E7A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E75B6"/>
                </a:solidFill>
                <a:latin typeface="Calibri"/>
              </a:rPr>
              <a:t>CURRENT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1282E"/>
                </a:solidFill>
                <a:latin typeface="Calibri"/>
              </a:rPr>
              <a:t>Ground-truth engine proven; now scaling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51560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653796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01368"/>
            <a:ext cx="5074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Tower Tracker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801368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DDE8F2"/>
                </a:solidFill>
                <a:latin typeface="Calibri"/>
              </a:rPr>
              <a:t>PRIMARY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377440"/>
            <a:ext cx="118872" cy="1188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331720"/>
            <a:ext cx="6172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F4E79"/>
                </a:solidFill>
                <a:latin typeface="Calibri"/>
              </a:rPr>
              <a:t>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624328"/>
            <a:ext cx="6080760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•  </a:t>
            </a:r>
            <a:r>
              <a:rPr sz="1150" b="1">
                <a:solidFill>
                  <a:srgbClr val="21282E"/>
                </a:solidFill>
                <a:latin typeface="Calibri"/>
              </a:rPr>
              <a:t>Verification process proven — </a:t>
            </a:r>
            <a:r>
              <a:rPr sz="1150">
                <a:solidFill>
                  <a:srgbClr val="21282E"/>
                </a:solidFill>
                <a:latin typeface="Calibri"/>
              </a:rPr>
              <a:t>much more efficient than manual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•  </a:t>
            </a:r>
            <a:r>
              <a:rPr sz="1150" b="1">
                <a:solidFill>
                  <a:srgbClr val="21282E"/>
                </a:solidFill>
                <a:latin typeface="Calibri"/>
              </a:rPr>
              <a:t>France complete</a:t>
            </a:r>
            <a:r>
              <a:rPr sz="1150">
                <a:solidFill>
                  <a:srgbClr val="21282E"/>
                </a:solidFill>
                <a:latin typeface="Calibri"/>
              </a:rPr>
              <a:t> (incl. captive-towerco carve-outs)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F4E79"/>
                </a:solidFill>
                <a:latin typeface="Calibri"/>
              </a:rPr>
              <a:t>•  </a:t>
            </a:r>
            <a:r>
              <a:rPr sz="1150" b="1">
                <a:solidFill>
                  <a:srgbClr val="21282E"/>
                </a:solidFill>
                <a:latin typeface="Calibri"/>
              </a:rPr>
              <a:t>30 largest deals by value verified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493008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447288"/>
            <a:ext cx="6172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75B6"/>
                </a:solidFill>
                <a:latin typeface="Calibri"/>
              </a:rPr>
              <a:t>IN-FLIGHT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739896"/>
            <a:ext cx="6080760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75B6"/>
                </a:solidFill>
                <a:latin typeface="Calibri"/>
              </a:rPr>
              <a:t>•  </a:t>
            </a:r>
            <a:r>
              <a:rPr sz="1150" b="1">
                <a:solidFill>
                  <a:srgbClr val="21282E"/>
                </a:solidFill>
                <a:latin typeface="Calibri"/>
              </a:rPr>
              <a:t>Re-verifying the ~292-deal seed, largest-first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75B6"/>
                </a:solidFill>
                <a:latin typeface="Calibri"/>
              </a:rPr>
              <a:t>•  </a:t>
            </a:r>
            <a:r>
              <a:rPr sz="1150" b="1">
                <a:solidFill>
                  <a:srgbClr val="21282E"/>
                </a:solidFill>
                <a:latin typeface="Calibri"/>
              </a:rPr>
              <a:t>Scraping company reports to widen ground truth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2E75B6"/>
                </a:solidFill>
                <a:latin typeface="Calibri"/>
              </a:rPr>
              <a:t>•  </a:t>
            </a:r>
            <a:r>
              <a:rPr sz="1150" b="1">
                <a:solidFill>
                  <a:srgbClr val="21282E"/>
                </a:solidFill>
                <a:latin typeface="Calibri"/>
              </a:rPr>
              <a:t>Tidying the company master list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608576"/>
            <a:ext cx="118872" cy="118872"/>
          </a:xfrm>
          <a:prstGeom prst="ellipse">
            <a:avLst/>
          </a:prstGeom>
          <a:solidFill>
            <a:srgbClr val="8FB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562856"/>
            <a:ext cx="6172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8FB4D9"/>
                </a:solidFill>
                <a:latin typeface="Calibri"/>
              </a:rPr>
              <a:t>PLANNED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855464"/>
            <a:ext cx="6080760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8FB4D9"/>
                </a:solidFill>
                <a:latin typeface="Calibri"/>
              </a:rPr>
              <a:t>•  </a:t>
            </a:r>
            <a:r>
              <a:rPr sz="1150" b="1">
                <a:solidFill>
                  <a:srgbClr val="21282E"/>
                </a:solidFill>
                <a:latin typeface="Calibri"/>
              </a:rPr>
              <a:t>Global 2024–26 catch-up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8FB4D9"/>
                </a:solidFill>
                <a:latin typeface="Calibri"/>
              </a:rPr>
              <a:t>•  </a:t>
            </a:r>
            <a:r>
              <a:rPr sz="1150" b="1">
                <a:solidFill>
                  <a:srgbClr val="21282E"/>
                </a:solidFill>
                <a:latin typeface="Calibri"/>
              </a:rPr>
              <a:t>France ownership “replay” demo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8FB4D9"/>
                </a:solidFill>
                <a:latin typeface="Calibri"/>
              </a:rPr>
              <a:t>•  </a:t>
            </a:r>
            <a:r>
              <a:rPr sz="1150" b="1">
                <a:solidFill>
                  <a:srgbClr val="21282E"/>
                </a:solidFill>
                <a:latin typeface="Calibri"/>
              </a:rPr>
              <a:t>Under-covered deal types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1737360"/>
            <a:ext cx="3916375" cy="5029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1801368"/>
            <a:ext cx="245333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Market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295" y="1801368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DDE8F2"/>
                </a:solidFill>
                <a:latin typeface="Calibri"/>
              </a:rPr>
              <a:t>LENS</a:t>
            </a:r>
          </a:p>
        </p:txBody>
      </p:sp>
      <p:sp>
        <p:nvSpPr>
          <p:cNvPr id="21" name="Oval 20"/>
          <p:cNvSpPr/>
          <p:nvPr/>
        </p:nvSpPr>
        <p:spPr>
          <a:xfrm>
            <a:off x="7635240" y="2377440"/>
            <a:ext cx="118872" cy="118872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2331720"/>
            <a:ext cx="35506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F4E79"/>
                </a:solidFill>
                <a:latin typeface="Calibri"/>
              </a:rPr>
              <a:t>DONE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2624328"/>
            <a:ext cx="3459175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•  </a:t>
            </a:r>
            <a:r>
              <a:rPr sz="1050" b="1">
                <a:solidFill>
                  <a:srgbClr val="21282E"/>
                </a:solidFill>
                <a:latin typeface="Calibri"/>
              </a:rPr>
              <a:t>Explorer live — 707 companies / 140 countries</a:t>
            </a:r>
          </a:p>
        </p:txBody>
      </p:sp>
      <p:sp>
        <p:nvSpPr>
          <p:cNvPr id="24" name="Oval 23"/>
          <p:cNvSpPr/>
          <p:nvPr/>
        </p:nvSpPr>
        <p:spPr>
          <a:xfrm>
            <a:off x="7635240" y="3493008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5552" y="3447288"/>
            <a:ext cx="35506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75B6"/>
                </a:solidFill>
                <a:latin typeface="Calibri"/>
              </a:rPr>
              <a:t>IN-FLIGHT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3739896"/>
            <a:ext cx="3459175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2E75B6"/>
                </a:solidFill>
                <a:latin typeface="Calibri"/>
              </a:rPr>
              <a:t>•  </a:t>
            </a:r>
            <a:r>
              <a:rPr sz="1050" b="1">
                <a:solidFill>
                  <a:srgbClr val="21282E"/>
                </a:solidFill>
                <a:latin typeface="Calibri"/>
              </a:rPr>
              <a:t>Adding &amp; validating public sources</a:t>
            </a:r>
            <a:r>
              <a:rPr sz="1050">
                <a:solidFill>
                  <a:srgbClr val="21282E"/>
                </a:solidFill>
                <a:latin typeface="Calibri"/>
              </a:rPr>
              <a:t> (cell data, France ANFR) — underway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2E75B6"/>
                </a:solidFill>
                <a:latin typeface="Calibri"/>
              </a:rPr>
              <a:t>•  </a:t>
            </a:r>
            <a:r>
              <a:rPr sz="1050" b="1">
                <a:solidFill>
                  <a:srgbClr val="21282E"/>
                </a:solidFill>
                <a:latin typeface="Calibri"/>
              </a:rPr>
              <a:t>Building the ranked gap view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4608576"/>
            <a:ext cx="118872" cy="118872"/>
          </a:xfrm>
          <a:prstGeom prst="ellipse">
            <a:avLst/>
          </a:prstGeom>
          <a:solidFill>
            <a:srgbClr val="8FB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45552" y="4562856"/>
            <a:ext cx="35506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8FB4D9"/>
                </a:solidFill>
                <a:latin typeface="Calibri"/>
              </a:rPr>
              <a:t>PLANNED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5552" y="4855464"/>
            <a:ext cx="3459175" cy="8412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8FB4D9"/>
                </a:solidFill>
                <a:latin typeface="Calibri"/>
              </a:rPr>
              <a:t>•  </a:t>
            </a:r>
            <a:r>
              <a:rPr sz="1050" b="1">
                <a:solidFill>
                  <a:srgbClr val="21282E"/>
                </a:solidFill>
                <a:latin typeface="Calibri"/>
              </a:rPr>
              <a:t>Conflict &amp; change-over-time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8FB4D9"/>
                </a:solidFill>
                <a:latin typeface="Calibri"/>
              </a:rPr>
              <a:t>•  </a:t>
            </a:r>
            <a:r>
              <a:rPr sz="1050" b="1">
                <a:solidFill>
                  <a:srgbClr val="21282E"/>
                </a:solidFill>
                <a:latin typeface="Calibri"/>
              </a:rPr>
              <a:t>Company profile pages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071616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636E7A"/>
                </a:solidFill>
                <a:latin typeface="Calibri"/>
              </a:rPr>
              <a:t>US register work is deliberately light — enough to keep the major US towerco records accurate; the US is well served by Inside Towers, so we won't duplicate it.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36E7A"/>
                </a:solidFill>
                <a:latin typeface="Calibri"/>
              </a:rPr>
              <a:t>Trustworthy Tower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77095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36E7A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E75B6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1282E"/>
                </a:solidFill>
                <a:latin typeface="Calibri"/>
              </a:rPr>
              <a:t>A clear runway to a showable France milestone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51560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4E79"/>
                </a:solidFill>
                <a:latin typeface="Calibri"/>
              </a:rPr>
              <a:t>TOWER TRACKER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514600"/>
            <a:ext cx="10820095" cy="32004"/>
          </a:xfrm>
          <a:prstGeom prst="rect">
            <a:avLst/>
          </a:prstGeom>
          <a:solidFill>
            <a:srgbClr val="8FB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28583" y="2420416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807208"/>
            <a:ext cx="24307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1282E"/>
                </a:solidFill>
                <a:latin typeface="Calibri"/>
              </a:rPr>
              <a:t>Verify 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00984"/>
            <a:ext cx="24307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36E7A"/>
                </a:solidFill>
                <a:latin typeface="Calibri"/>
              </a:rPr>
              <a:t>largest deals first</a:t>
            </a:r>
          </a:p>
        </p:txBody>
      </p:sp>
      <p:sp>
        <p:nvSpPr>
          <p:cNvPr id="11" name="Oval 10"/>
          <p:cNvSpPr/>
          <p:nvPr/>
        </p:nvSpPr>
        <p:spPr>
          <a:xfrm>
            <a:off x="4633607" y="2420416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7983" y="2807208"/>
            <a:ext cx="24307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1282E"/>
                </a:solidFill>
                <a:latin typeface="Calibri"/>
              </a:rPr>
              <a:t>Company-report scraping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3" y="3300984"/>
            <a:ext cx="24307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36E7A"/>
                </a:solidFill>
                <a:latin typeface="Calibri"/>
              </a:rPr>
              <a:t>widen ground truth</a:t>
            </a:r>
          </a:p>
        </p:txBody>
      </p:sp>
      <p:sp>
        <p:nvSpPr>
          <p:cNvPr id="14" name="Oval 13"/>
          <p:cNvSpPr/>
          <p:nvPr/>
        </p:nvSpPr>
        <p:spPr>
          <a:xfrm>
            <a:off x="7292911" y="2374696"/>
            <a:ext cx="310896" cy="310896"/>
          </a:xfrm>
          <a:prstGeom prst="ellipse">
            <a:avLst/>
          </a:prstGeom>
          <a:solidFill>
            <a:srgbClr val="1F4E79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007" y="2807208"/>
            <a:ext cx="24307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4E79"/>
                </a:solidFill>
                <a:latin typeface="Calibri"/>
              </a:rPr>
              <a:t>★ France “replay” vs Arcep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7" y="3300984"/>
            <a:ext cx="24307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36E7A"/>
                </a:solidFill>
                <a:latin typeface="Calibri"/>
              </a:rPr>
              <a:t>the showable proof</a:t>
            </a:r>
          </a:p>
        </p:txBody>
      </p:sp>
      <p:sp>
        <p:nvSpPr>
          <p:cNvPr id="17" name="Oval 16"/>
          <p:cNvSpPr/>
          <p:nvPr/>
        </p:nvSpPr>
        <p:spPr>
          <a:xfrm>
            <a:off x="10043655" y="2420416"/>
            <a:ext cx="219456" cy="219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38031" y="2807208"/>
            <a:ext cx="24307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1282E"/>
                </a:solidFill>
                <a:latin typeface="Calibri"/>
              </a:rPr>
              <a:t>Global 2024–26 catch-up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8031" y="3300984"/>
            <a:ext cx="24307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36E7A"/>
                </a:solidFill>
                <a:latin typeface="Calibri"/>
              </a:rPr>
              <a:t>bring the picture current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60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75B6"/>
                </a:solidFill>
                <a:latin typeface="Calibri"/>
              </a:rPr>
              <a:t>MARKET INTELLIGENCE (in parallel)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709160"/>
            <a:ext cx="10820095" cy="25603"/>
          </a:xfrm>
          <a:prstGeom prst="rect">
            <a:avLst/>
          </a:prstGeom>
          <a:solidFill>
            <a:srgbClr val="8FB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14842" y="4621377"/>
            <a:ext cx="201168" cy="2011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52386" y="494690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1282E"/>
                </a:solidFill>
                <a:latin typeface="Calibri"/>
              </a:rPr>
              <a:t>Stand up the ranked gap view</a:t>
            </a:r>
          </a:p>
        </p:txBody>
      </p:sp>
      <p:sp>
        <p:nvSpPr>
          <p:cNvPr id="24" name="Oval 23"/>
          <p:cNvSpPr/>
          <p:nvPr/>
        </p:nvSpPr>
        <p:spPr>
          <a:xfrm>
            <a:off x="8159282" y="4621377"/>
            <a:ext cx="201168" cy="20116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6826" y="494690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1282E"/>
                </a:solidFill>
                <a:latin typeface="Calibri"/>
              </a:rPr>
              <a:t>Direct research at the most opaque sites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071616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636E7A"/>
                </a:solidFill>
                <a:latin typeface="Calibri"/>
              </a:rPr>
              <a:t>Relative phases, not calendar dates — work runs one focused task at a 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36E7A"/>
                </a:solidFill>
                <a:latin typeface="Calibri"/>
              </a:rPr>
              <a:t>Trustworthy Tower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7095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36E7A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E75B6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1282E"/>
                </a:solidFill>
                <a:latin typeface="Calibri"/>
              </a:rPr>
              <a:t>Well-understood risks — and a plan to close the gaps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51560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566160" cy="786384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7116775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154679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1282E"/>
                </a:solidFill>
                <a:latin typeface="Calibri"/>
              </a:rPr>
              <a:t>Source dependency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920240"/>
            <a:ext cx="6613855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36E7A"/>
                </a:solidFill>
                <a:latin typeface="Calibri"/>
              </a:rPr>
              <a:t>Built on public official filings and registers; coverage is strongest where disclosure is best.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06624"/>
            <a:ext cx="3566160" cy="786384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2706624"/>
            <a:ext cx="7116775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98064"/>
            <a:ext cx="3154679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1282E"/>
                </a:solidFill>
                <a:latin typeface="Calibri"/>
              </a:rPr>
              <a:t>Data-quality traps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98064"/>
            <a:ext cx="6613855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36E7A"/>
                </a:solidFill>
                <a:latin typeface="Calibri"/>
              </a:rPr>
              <a:t>We record only figures seen in real documents, and we label uncertainty; the newer public-data integrations are still being validated.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84448"/>
            <a:ext cx="3566160" cy="786384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3584448"/>
            <a:ext cx="7116775" cy="786384"/>
          </a:xfrm>
          <a:prstGeom prst="roundRect">
            <a:avLst>
              <a:gd name="adj" fmla="val 6000"/>
            </a:avLst>
          </a:prstGeom>
          <a:solidFill>
            <a:srgbClr val="EBF1F8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75887"/>
            <a:ext cx="3154679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→ Then we go out and close the gaps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675887"/>
            <a:ext cx="6613855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1282E"/>
                </a:solidFill>
                <a:latin typeface="Calibri"/>
              </a:rPr>
              <a:t>The model points to the most opaque, high-value sites — we get on the phone and source fresh data captures directly. The last-mile value.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62272"/>
            <a:ext cx="3566160" cy="786384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89120" y="4462272"/>
            <a:ext cx="7116775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53712"/>
            <a:ext cx="3154679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1282E"/>
                </a:solidFill>
                <a:latin typeface="Calibri"/>
              </a:rPr>
              <a:t>Confidentiality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553712"/>
            <a:ext cx="6613855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36E7A"/>
                </a:solidFill>
                <a:latin typeface="Calibri"/>
              </a:rPr>
              <a:t>The seed deal table is proprietary, so the Tracker stays private until enough is independently re-sourced.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0096"/>
            <a:ext cx="3566160" cy="786384"/>
          </a:xfrm>
          <a:prstGeom prst="roundRect">
            <a:avLst>
              <a:gd name="adj" fmla="val 6000"/>
            </a:avLst>
          </a:prstGeom>
          <a:solidFill>
            <a:srgbClr val="F3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89120" y="5340096"/>
            <a:ext cx="7116775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31536"/>
            <a:ext cx="3154679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1282E"/>
                </a:solidFill>
                <a:latin typeface="Calibri"/>
              </a:rPr>
              <a:t>Continuity &amp; conduct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5431536"/>
            <a:ext cx="6613855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36E7A"/>
                </a:solidFill>
                <a:latin typeface="Calibri"/>
              </a:rPr>
              <a:t>Fully documented so any teammate can pick it up; a firm rule never to touch pricing or lease terms (competition-law safe).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36E7A"/>
                </a:solidFill>
                <a:latin typeface="Calibri"/>
              </a:rPr>
              <a:t>Trustworthy Tower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7095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36E7A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7548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E75B6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6384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1282E"/>
                </a:solidFill>
                <a:latin typeface="Calibri"/>
              </a:rPr>
              <a:t>Keep the momentum — back the next phase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51560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3362858" cy="3200400"/>
          </a:xfrm>
          <a:prstGeom prst="roundRect">
            <a:avLst>
              <a:gd name="adj" fmla="val 6000"/>
            </a:avLst>
          </a:prstGeom>
          <a:solidFill>
            <a:srgbClr val="EBF1F8"/>
          </a:solidFill>
          <a:ln w="285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3362858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12848"/>
            <a:ext cx="28142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F4E79"/>
                </a:solidFill>
                <a:latin typeface="Calibri"/>
              </a:rPr>
              <a:t>PRIMARY DECISION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578608"/>
            <a:ext cx="566928" cy="56692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37560"/>
            <a:ext cx="27227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1282E"/>
                </a:solidFill>
                <a:latin typeface="Calibri"/>
              </a:rPr>
              <a:t>Endorse the next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272277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36E7A"/>
                </a:solidFill>
                <a:latin typeface="Calibri"/>
              </a:rPr>
              <a:t>Informal backing to keep the Tower Tracker resourced through seed re-verification and the global catch-up, with the Intelligence lens progressing alongside.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4418" y="2011680"/>
            <a:ext cx="3362858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34458" y="2377440"/>
            <a:ext cx="566928" cy="56692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4458" y="3108960"/>
            <a:ext cx="27227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1282E"/>
                </a:solidFill>
                <a:latin typeface="Calibri"/>
              </a:rPr>
              <a:t>A 30-minute look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4458" y="3703320"/>
            <a:ext cx="272277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36E7A"/>
                </a:solidFill>
                <a:latin typeface="Calibri"/>
              </a:rPr>
              <a:t>Once the France “replay” is ready, see the verified ownership picture — and the gap view directing research — live.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3036" y="2011680"/>
            <a:ext cx="3362858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5D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63076" y="2377440"/>
            <a:ext cx="566928" cy="56692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3076" y="3108960"/>
            <a:ext cx="27227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1282E"/>
                </a:solidFill>
                <a:latin typeface="Calibri"/>
              </a:rPr>
              <a:t>One introduction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3076" y="3703320"/>
            <a:ext cx="272277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36E7A"/>
                </a:solidFill>
                <a:latin typeface="Calibri"/>
              </a:rPr>
              <a:t>An informal intro to your colleague's data-driven stream, to explore feeding this ownership ledger into their work and sharing sources.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36E7A"/>
                </a:solidFill>
                <a:latin typeface="Calibri"/>
              </a:rPr>
              <a:t>Trustworthy Tower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7095" y="6455664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36E7A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